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04_0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72" r:id="rId3"/>
    <p:sldId id="290" r:id="rId4"/>
    <p:sldId id="258" r:id="rId5"/>
    <p:sldId id="283" r:id="rId6"/>
    <p:sldId id="306" r:id="rId7"/>
    <p:sldId id="273" r:id="rId8"/>
    <p:sldId id="259" r:id="rId9"/>
    <p:sldId id="260" r:id="rId10"/>
    <p:sldId id="291" r:id="rId11"/>
    <p:sldId id="274" r:id="rId12"/>
    <p:sldId id="276" r:id="rId13"/>
    <p:sldId id="261" r:id="rId14"/>
    <p:sldId id="292" r:id="rId15"/>
    <p:sldId id="293" r:id="rId16"/>
    <p:sldId id="297" r:id="rId17"/>
    <p:sldId id="298" r:id="rId18"/>
    <p:sldId id="301" r:id="rId19"/>
    <p:sldId id="300" r:id="rId20"/>
    <p:sldId id="302" r:id="rId21"/>
    <p:sldId id="303" r:id="rId22"/>
    <p:sldId id="262" r:id="rId23"/>
    <p:sldId id="281" r:id="rId24"/>
    <p:sldId id="280" r:id="rId25"/>
    <p:sldId id="282" r:id="rId26"/>
    <p:sldId id="264" r:id="rId27"/>
    <p:sldId id="263" r:id="rId28"/>
    <p:sldId id="305" r:id="rId29"/>
    <p:sldId id="304" r:id="rId30"/>
    <p:sldId id="296" r:id="rId31"/>
    <p:sldId id="266" r:id="rId32"/>
    <p:sldId id="287" r:id="rId33"/>
    <p:sldId id="288" r:id="rId34"/>
    <p:sldId id="267" r:id="rId35"/>
    <p:sldId id="289" r:id="rId36"/>
    <p:sldId id="295" r:id="rId37"/>
    <p:sldId id="270" r:id="rId38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D84479-D82C-764A-2419-9686A864316C}" name="Ingeniero Confiabilidad" initials="IC" userId="S::innovacion.confiabilidad@copower.com.co::8d2f7956-38a7-4f2f-bab8-cd4bf7a98f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A"/>
    <a:srgbClr val="172D49"/>
    <a:srgbClr val="D22008"/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9C70E-237C-8E4F-9FF3-A6923370CF9E}" v="173" dt="2026-07-27T14:26:43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>
      <p:cViewPr varScale="1">
        <p:scale>
          <a:sx n="131" d="100"/>
          <a:sy n="131" d="100"/>
        </p:scale>
        <p:origin x="2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3F90BA-966C-5D41-9C12-0FF942746DC1}" authorId="{9BD84479-D82C-764A-2419-9686A864316C}" created="2026-07-21T21:49:00.382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CO"/>
          <a:t>ajustar todos los indicadores
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7-23T20:39:06.802" authorId="{9BD84479-D82C-764A-2419-9686A864316C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46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/>
              <a:t>Presentar el desempeño de confiabilidad durante junio, evaluar el cumplimiento de las metas contractuales, analizar las principales desviaciones y definir acciones para reducir pérdidas operacionales y riesgos futuros.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63349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BE85-23E5-1189-9BF2-F4E572C1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42DA5-B898-34CA-F0BC-78D1209E7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05225-251B-8C8F-3964-D892B8047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04771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99E2-0094-9B32-EE36-1B790862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443A8-407E-C0ED-3DBE-177856469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1BD47-5D53-6CB5-AACA-E7BB2A34A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930913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24378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1004E-DDFA-66AA-04D1-8699041D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4E4A3-938B-B93A-97D0-656F60D4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B3154-E7DA-3BE1-FECD-E7999B80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03068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6203E-05FC-E9F8-B96C-296CC2238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85F38-681A-F359-898F-F5C4F7B28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829AA-1805-2D7F-F760-21D5A9767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junio se realizó el seguimiento integral de los indicadores de disponibilidad, confiabilidad, mantenibilidad, generación y pérdidas operacionales. Se identificaron los principales eventos que afectaron el desempeño, los activos con comportamiento recurrente y las acciones prioritarias para el siguiente periodo.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tres mensajes clave: resultado general, principal desviación y acción más relevante.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14753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B417-8388-F628-CA5C-D168FDBF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65E6A-9DD1-3B57-64AB-05013E919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9120D-9E14-1CD1-763C-803121327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consolidaron y validaron los indicadores del mes, comparándolos con las metas contractuales, el presupuesto y el desempeño histórico.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Disponibilidad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Confiabilidad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Mantenibilidad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Generación real vs. esperada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Pérdidas operacionales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usar semáforo para identificar cumplimiento, alerta o desviación.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02495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consolidaron y validaron los indicadores del mes, comparándolos con las metas contractuales, el presupuesto y el desempeño histórico.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Disponibilidad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Confiabilidad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Mantenibilidad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Generación real vs. esperada</a:t>
            </a:r>
          </a:p>
          <a:p>
            <a:pPr marL="285750" lvl="0" indent="-285750">
              <a:spcAft>
                <a:spcPts val="300"/>
              </a:spcAft>
              <a:buFont typeface="Arial" pitchFamily="34" charset="0"/>
              <a:buChar char="•"/>
            </a:pPr>
            <a:r>
              <a:rPr lang="es-CO" sz="1200"/>
              <a:t>Pérdidas operacionales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usar semáforo para identificar cumplimiento, alerta o desviación.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29924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evaluó el resultado de cada indicador frente a las metas contractuales establecidas. Las desviaciones identificadas fueron analizadas considerando su causa, duración, impacto en generación y posibilidad de recuperación.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mostrar una tabla con indicador, meta, resultado junio, brecha y estado.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230363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FB12-699E-D50A-97FA-08C406C1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91C06-E271-F5D8-0588-AEBA9C654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407A6-8A8F-3231-E992-C847C09B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evaluó el resultado de cada indicador frente a las metas contractuales establecidas. Las desviaciones identificadas fueron analizadas considerando su causa, duración, impacto en generación y posibilidad de recuperación.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mostrar una tabla con indicador, meta, resultado junio, brecha y estado.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926852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0F979-266A-C51E-1012-9CF4C6CA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BFAA6-2C43-296E-B020-3B031163B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EFA16-B7FA-75DC-910E-BC7587FB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evaluó el resultado de cada indicador frente a las metas contractuales establecidas. Las desviaciones identificadas fueron analizadas considerando su causa, duración, impacto en generación y posibilidad de recuperación.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mostrar una tabla con indicador, meta, resultado junio, brecha y estado.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57929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95DA-9555-2E3C-02AD-D3F798D1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57321-4BE6-DA4F-3A13-FCB89A002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FE21A-AAEC-3F11-D33D-AA73DBC02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evaluó el resultado de cada indicador frente a las metas contractuales establecidas. Las desviaciones identificadas fueron analizadas considerando su causa, duración, impacto en generación y posibilidad de recuperación.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mostrar una tabla con indicador, meta, resultado junio, brecha y estado.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03627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92888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3F04-CA01-D219-8543-7D937266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87BC9-268C-1808-F81B-94FD3111A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DE34E-1BAF-8D62-E4E9-FA0BE5882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0544523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4176D-7BD7-B634-E6FF-40805DF6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26D5C-6898-8277-74B9-FFA758046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B8458-F40E-F677-8F97-BF1B0A5F3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09867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7DB6-E54F-5997-CF83-81D4D27F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92676-3C93-12DC-9822-60543F480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3F160-27D9-8B43-0849-B981E5D12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4092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94E7-ABB0-32AE-B69B-6AE35DF9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0ECFF-C717-2B7E-6103-B718EC981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8912A-6ED6-0CFD-6B95-6438E372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0251461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4C87-9A65-2CB3-12BD-3F331B60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60A41-DEE0-DB33-E395-9EE1EE042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6D2BE-AE4A-6932-B62E-4F8DA58C5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476562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9182-0CC9-5D67-8D68-987BA26DC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8F2DD-F11A-5C56-5499-6F4370651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28791-06E9-2D70-0A86-0681A477A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667846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8334-36E5-22CE-370D-0DEA8265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3B54-C31F-2CC8-2F99-CC9374F63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5DADF-DC3A-9254-2FB1-CC6E3C371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0458123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647E-6F7C-1B31-AF41-D5F71571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8A9E9-D471-CB4F-BCEA-1E4DF30B1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1C14C-20A1-39CA-B296-FE590DF10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  <a:p>
            <a:pPr>
              <a:spcAft>
                <a:spcPts val="600"/>
              </a:spcAft>
            </a:pPr>
            <a:r>
              <a:rPr lang="es-CO" sz="1200"/>
              <a:t>Para cada evento se estableció: fecha, activo afectado, duración, energía no generada, causa preliminar y acción inmediata ejecutada.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2664727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ranking de los cinco principales malos actores y su impacto acumulado.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245530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6106F-4B39-ADD0-CD65-BD3D0AEC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CB72F-1BE8-8E5C-9431-68FD26C48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5B404-894C-E2DC-5A4D-75714D7ED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ranking de los cinco principales malos actores y su impacto acumulado.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7352147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FD05-0B33-FD3C-8A10-3DD819E7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DB886-B758-923F-94F0-426246F87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8E191-F917-CD18-8469-4FD9A7190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ranking de los cinco principales malos actores y su impacto acumulado.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086864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3577-63B5-89E5-469A-520F34B45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E76B5-2234-E8F4-3EB7-F856348F2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35174-7B2C-C4D6-874B-EA1FA4928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  <a:p>
            <a:pPr>
              <a:spcBef>
                <a:spcPts val="600"/>
              </a:spcBef>
            </a:pPr>
            <a:r>
              <a:rPr lang="es-CO" sz="1050" b="1" i="1">
                <a:solidFill>
                  <a:srgbClr val="C0392B"/>
                </a:solidFill>
              </a:rPr>
              <a:t>Nota: </a:t>
            </a:r>
            <a:r>
              <a:rPr lang="es-CO" sz="1050" i="1">
                <a:solidFill>
                  <a:srgbClr val="555555"/>
                </a:solidFill>
              </a:rPr>
              <a:t>incluir ranking de los cinco principales malos actores y su impacto acumulado.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168432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destacar los casos abiertos, cerrados y pendientes de validación.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247704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presentar responsable, avance, fecha compromiso y resultado esperado.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41212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mostrar riesgos críticos, medidas de mitigación y fecha estimada de control.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0141723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8CD30-87AD-F6FA-E096-E8165610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A17F0-A68B-2E6E-DCFD-ACD3C53F4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385CD-F86D-D298-1986-894154D79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mostrar riesgos críticos, medidas de mitigación y fecha estimada de control.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937265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384FB-F12C-8039-4309-7CFD1E95F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1D160-4501-7281-1F4A-9EAC8ADB1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CD910-6863-7D6C-BCB6-89527DBAC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mostrar riesgos críticos, medidas de mitigación y fecha estimada de control.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996418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separar acciones vencidas, próximas a vencer y cerradas.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21641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343B-3551-4271-9D68-37754A77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93979-C1E9-78A6-C481-64E084ACA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15585-FD1F-7E76-9F1C-6820DF38B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 i="1">
                <a:solidFill>
                  <a:srgbClr val="C0392B"/>
                </a:solidFill>
              </a:rPr>
              <a:t>Nota: </a:t>
            </a:r>
            <a:r>
              <a:rPr lang="es-CO" sz="1200" i="1">
                <a:solidFill>
                  <a:srgbClr val="555555"/>
                </a:solidFill>
              </a:rPr>
              <a:t>separar acciones vencidas, próximas a vencer y cerradas.</a:t>
            </a:r>
          </a:p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444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0970-1E4A-AA4B-9593-4ECA125DB915}" type="datetime1">
              <a:rPr lang="en-US" smtClean="0"/>
              <a:t>8/11/26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905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5ACE-6BDB-A247-BC95-F0846DB2012A}" type="datetime1">
              <a:rPr lang="en-US" smtClean="0"/>
              <a:t>8/11/26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287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A8E62-FCB2-9845-B6A8-AE1F62243EFE}" type="datetime1">
              <a:rPr lang="en-US" smtClean="0"/>
              <a:t>8/11/26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595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BD242-79A1-5E49-A60F-0577B42E930E}" type="datetime1">
              <a:rPr lang="en-US" smtClean="0"/>
              <a:t>8/11/26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17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CF2F2-0182-064D-A413-696AEFCF8200}" type="datetime1">
              <a:rPr lang="en-US" smtClean="0"/>
              <a:t>8/11/26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151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5B6FB-D386-F843-9710-BAF11E5E9883}" type="datetime1">
              <a:rPr lang="en-US" smtClean="0"/>
              <a:t>8/11/26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14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B6F7E-CC79-D849-B8A9-F23F10B61939}" type="datetime1">
              <a:rPr lang="en-US" smtClean="0"/>
              <a:t>8/11/26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927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0F8CE-00A8-5346-AFEF-4CBB5BCF9735}" type="datetime1">
              <a:rPr lang="en-US" smtClean="0"/>
              <a:t>8/11/26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609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0E5D-47BE-8042-BAB2-46E5AEBA111A}" type="datetime1">
              <a:rPr lang="en-US" smtClean="0"/>
              <a:t>8/11/26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717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07DD-1172-AF4D-9AB6-3E1B3BCB7397}" type="datetime1">
              <a:rPr lang="en-US" smtClean="0"/>
              <a:t>8/11/26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879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C6348-0918-A948-9EFB-C05F69168615}" type="datetime1">
              <a:rPr lang="en-US" smtClean="0"/>
              <a:t>8/11/26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443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18A9D-3F41-E448-9B3C-95DC8B4A49BB}" type="datetime1">
              <a:rPr lang="en-US" smtClean="0"/>
              <a:t>8/11/26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A34A6-7ADB-42AD-A657-AE98B9EEBBD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308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40764" y="1780000"/>
            <a:ext cx="6954097" cy="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CO" sz="2000" b="1" spc="200">
                <a:solidFill>
                  <a:srgbClr val="C0392B"/>
                </a:solidFill>
              </a:rPr>
              <a:t>INFORME MENSUAL</a:t>
            </a:r>
          </a:p>
        </p:txBody>
      </p:sp>
      <p:sp>
        <p:nvSpPr>
          <p:cNvPr id="5" name="TituloGrande"/>
          <p:cNvSpPr txBox="1"/>
          <p:nvPr/>
        </p:nvSpPr>
        <p:spPr>
          <a:xfrm>
            <a:off x="1040764" y="2230000"/>
            <a:ext cx="6954097" cy="12800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lang="es-CO" sz="4400" b="1" noProof="0">
                <a:ln w="0"/>
                <a:solidFill>
                  <a:srgbClr val="172D49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INFORME DE CONFIABILIDAD</a:t>
            </a:r>
          </a:p>
          <a:p>
            <a:r>
              <a:rPr lang="es-CO" sz="2800" b="1">
                <a:solidFill>
                  <a:srgbClr val="C0392B"/>
                </a:solidFill>
              </a:rPr>
              <a:t>JUNIO 2026</a:t>
            </a:r>
          </a:p>
        </p:txBody>
      </p:sp>
      <p:cxnSp>
        <p:nvCxnSpPr>
          <p:cNvPr id="12" name="Conector"/>
          <p:cNvCxnSpPr>
            <a:cxnSpLocks/>
          </p:cNvCxnSpPr>
          <p:nvPr/>
        </p:nvCxnSpPr>
        <p:spPr>
          <a:xfrm>
            <a:off x="1184062" y="3620000"/>
            <a:ext cx="2374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ulo"/>
          <p:cNvSpPr txBox="1"/>
          <p:nvPr/>
        </p:nvSpPr>
        <p:spPr>
          <a:xfrm>
            <a:off x="1040764" y="4148524"/>
            <a:ext cx="6954097" cy="3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s-CO" sz="1600" b="1">
                <a:solidFill>
                  <a:srgbClr val="1E3A5F"/>
                </a:solidFill>
              </a:rPr>
              <a:t>PARQUE DE GENERACIÓN COSTAYACO – VONU</a:t>
            </a:r>
          </a:p>
        </p:txBody>
      </p:sp>
      <p:sp>
        <p:nvSpPr>
          <p:cNvPr id="6" name="Descripcion"/>
          <p:cNvSpPr txBox="1"/>
          <p:nvPr/>
        </p:nvSpPr>
        <p:spPr>
          <a:xfrm>
            <a:off x="1517000" y="5437047"/>
            <a:ext cx="6110000" cy="12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s-CO" sz="1200"/>
              <a:t>Presentación mensual de resultados operacionales, desempeño de activos, eventos relevantes, riesgos y planes de acción para asegurar la continuidad y confiabilidad del sistema de generación.</a:t>
            </a:r>
          </a:p>
        </p:txBody>
      </p:sp>
      <p:sp>
        <p:nvSpPr>
          <p:cNvPr id="4" name="Descripcion">
            <a:extLst>
              <a:ext uri="{FF2B5EF4-FFF2-40B4-BE49-F238E27FC236}">
                <a16:creationId xmlns:a16="http://schemas.microsoft.com/office/drawing/2014/main" id="{A59ABC13-4C87-B9D4-A3FB-7098D18C2A04}"/>
              </a:ext>
            </a:extLst>
          </p:cNvPr>
          <p:cNvSpPr txBox="1"/>
          <p:nvPr/>
        </p:nvSpPr>
        <p:spPr>
          <a:xfrm>
            <a:off x="1040764" y="4528524"/>
            <a:ext cx="3261828" cy="48585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lang="es-CO" sz="1200"/>
              <a:t>Gustavo Arteaga</a:t>
            </a:r>
            <a:br>
              <a:rPr lang="es-CO" sz="1200"/>
            </a:br>
            <a:r>
              <a:rPr lang="es-CO" sz="1200" err="1"/>
              <a:t>innovacion.confiabilidad@copower.com.co</a:t>
            </a:r>
            <a:br>
              <a:rPr lang="es-CO" sz="1200"/>
            </a:br>
            <a:endParaRPr lang="es-CO" sz="120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7415C-C8ED-D187-825D-6B891858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686F8-2AC8-D6FD-0500-CFB9663AA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C68D67E3-1239-951B-ED1C-B300928297B9}"/>
              </a:ext>
            </a:extLst>
          </p:cNvPr>
          <p:cNvSpPr txBox="1"/>
          <p:nvPr/>
        </p:nvSpPr>
        <p:spPr>
          <a:xfrm>
            <a:off x="851342" y="156556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Resumen ejecutivo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223CA7-0A7B-5091-8C23-A6875E7C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</a:t>
            </a:fld>
            <a:endParaRPr lang="es-C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208AA4-F3DE-D9C5-6237-779AC732D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23" y="1931911"/>
            <a:ext cx="7210549" cy="4058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9" name="Tabla 19">
            <a:extLst>
              <a:ext uri="{FF2B5EF4-FFF2-40B4-BE49-F238E27FC236}">
                <a16:creationId xmlns:a16="http://schemas.microsoft.com/office/drawing/2014/main" id="{F3669BD3-7E13-780F-F4C0-3898066B0D06}"/>
              </a:ext>
            </a:extLst>
          </p:cNvPr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327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142C-28DB-D9D5-C52D-3B00EDD6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E3311A0F-B3BB-3641-57B3-1AD2465CF22E}"/>
              </a:ext>
            </a:extLst>
          </p:cNvPr>
          <p:cNvSpPr txBox="1"/>
          <p:nvPr/>
        </p:nvSpPr>
        <p:spPr>
          <a:xfrm>
            <a:off x="393648" y="991815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Resumen ejecutivo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BD6130-C225-057C-FB96-12C6ECD5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</a:t>
            </a:fld>
            <a:endParaRPr lang="es-C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B3F86E-28BD-AECE-C3B9-273621D6D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48" y="1607350"/>
            <a:ext cx="8356704" cy="3643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976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573047" y="868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Tendencias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62064B-F6C2-6C01-4462-95F7797FD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26" y="1464130"/>
            <a:ext cx="8459148" cy="3929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71367-089C-A81B-9332-2E11FB61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4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34DA3-CD19-B5DF-F628-F619A16A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12492C62-16A9-468E-0466-8C272A915E5C}"/>
              </a:ext>
            </a:extLst>
          </p:cNvPr>
          <p:cNvSpPr txBox="1"/>
          <p:nvPr/>
        </p:nvSpPr>
        <p:spPr>
          <a:xfrm>
            <a:off x="573047" y="868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Tendencias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B7BBA-6A4B-E81C-CFA6-255704AAE8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45" y="1338000"/>
            <a:ext cx="8102910" cy="4354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8D313-34BD-6799-C215-E1D1C214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4608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23B7A-3695-4D3E-67C5-EE2027CF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6CC91EAE-C917-D328-B9CE-098269FEBE43}"/>
              </a:ext>
            </a:extLst>
          </p:cNvPr>
          <p:cNvSpPr txBox="1"/>
          <p:nvPr/>
        </p:nvSpPr>
        <p:spPr>
          <a:xfrm>
            <a:off x="573047" y="868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Tendencias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7A41-6DEC-4AC9-687C-4BC30B8A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6</a:t>
            </a:fld>
            <a:endParaRPr lang="es-C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BAA1D6-ECC3-98A0-C9C6-04482F21A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6"/>
          <a:stretch>
            <a:fillRect/>
          </a:stretch>
        </p:blipFill>
        <p:spPr>
          <a:xfrm>
            <a:off x="401315" y="1466053"/>
            <a:ext cx="8343557" cy="396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81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A41F4-4EFB-F3B7-C15E-FA1FF082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1B518386-D02A-1937-7010-4002C204228D}"/>
              </a:ext>
            </a:extLst>
          </p:cNvPr>
          <p:cNvSpPr txBox="1"/>
          <p:nvPr/>
        </p:nvSpPr>
        <p:spPr>
          <a:xfrm>
            <a:off x="702959" y="869255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Indicadores de desempeño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CD0A3-95CE-5DBF-C877-0BE78BC7A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04" y="1591374"/>
            <a:ext cx="8526755" cy="3822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B91E1-9065-2EE1-F168-1C9BD8F9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203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589036" y="934382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Indicadores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FFBF5-1FC4-D268-51D1-B70276A3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8</a:t>
            </a:fld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1480DE-B9AA-C031-9426-F70195C7C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5"/>
          <a:stretch>
            <a:fillRect/>
          </a:stretch>
        </p:blipFill>
        <p:spPr>
          <a:xfrm>
            <a:off x="1042228" y="1404382"/>
            <a:ext cx="6600964" cy="4546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/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/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Cumplimiento de metas contractuales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49B781-942F-832A-B9AC-B563CCA1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9</a:t>
            </a:fld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7BC6B-9816-0E80-8604-458B01D066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8173" y="2120000"/>
            <a:ext cx="8267654" cy="2677290"/>
          </a:xfrm>
          <a:prstGeom prst="roundRect">
            <a:avLst>
              <a:gd name="adj" fmla="val 775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F5849-A596-B1FA-ECBA-8EACDDB71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767E84B9-6A17-1AE0-3FDA-5B6E29B5AAC2}"/>
              </a:ext>
            </a:extLst>
          </p:cNvPr>
          <p:cNvSpPr txBox="1"/>
          <p:nvPr/>
        </p:nvSpPr>
        <p:spPr>
          <a:xfrm>
            <a:off x="685797" y="864808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Cumplimiento de metas contractuales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1E0C32-5E5B-9E7C-23C9-EEFD3EA2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10</a:t>
            </a:fld>
            <a:endParaRPr lang="es-C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F485BC-32EE-6C12-A3E9-410D7B94B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70" y="1334808"/>
            <a:ext cx="8384501" cy="4380192"/>
          </a:xfrm>
          <a:prstGeom prst="roundRect">
            <a:avLst>
              <a:gd name="adj" fmla="val 237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5367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49FE7-8220-A3BF-4895-A2385308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A2924FF1-0CD8-3D52-E216-D39F051B4885}"/>
              </a:ext>
            </a:extLst>
          </p:cNvPr>
          <p:cNvSpPr txBox="1"/>
          <p:nvPr/>
        </p:nvSpPr>
        <p:spPr>
          <a:xfrm>
            <a:off x="668407" y="884686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Cumplimiento de metas contractuales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F89D82-A2FF-7A27-AB95-E2E1E875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11</a:t>
            </a:fld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DDBEE-F6FD-C736-5AF5-B52BF158E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07" y="1275173"/>
            <a:ext cx="7725834" cy="4618628"/>
          </a:xfrm>
          <a:prstGeom prst="roundRect">
            <a:avLst>
              <a:gd name="adj" fmla="val 3540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4831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29460-D5A4-B9EB-ED5B-86BBBF708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EA9C0D37-355A-51F2-733D-6E53FF77EFD2}"/>
              </a:ext>
            </a:extLst>
          </p:cNvPr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>
            <a:extLst>
              <a:ext uri="{FF2B5EF4-FFF2-40B4-BE49-F238E27FC236}">
                <a16:creationId xmlns:a16="http://schemas.microsoft.com/office/drawing/2014/main" id="{66BCFC3C-A55B-7604-6682-8A59062209F2}"/>
              </a:ext>
            </a:extLst>
          </p:cNvPr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Cumplimiento de metas contractuales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37233-8C1C-F5BB-5EE7-9E92EA3ED2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" y="2002013"/>
            <a:ext cx="7772400" cy="3903918"/>
          </a:xfrm>
          <a:prstGeom prst="roundRect">
            <a:avLst>
              <a:gd name="adj" fmla="val 2919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3DAC8E-49E6-5DE4-ADFD-E44EC677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4962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887212" y="1594782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6F5642-A7B7-3795-37AC-921EF6C5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13</a:t>
            </a:fld>
            <a:endParaRPr lang="es-CO"/>
          </a:p>
        </p:txBody>
      </p:sp>
      <p:graphicFrame>
        <p:nvGraphicFramePr>
          <p:cNvPr id="3" name="Tabla 19">
            <a:extLst>
              <a:ext uri="{FF2B5EF4-FFF2-40B4-BE49-F238E27FC236}">
                <a16:creationId xmlns:a16="http://schemas.microsoft.com/office/drawing/2014/main" id="{1E49B728-2BEF-57E6-AC8E-C324F9CC437A}"/>
              </a:ext>
            </a:extLst>
          </p:cNvPr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A49A48-3BAA-B5FE-0F10-47A91E1FF80D}"/>
              </a:ext>
            </a:extLst>
          </p:cNvPr>
          <p:cNvSpPr txBox="1"/>
          <p:nvPr/>
        </p:nvSpPr>
        <p:spPr>
          <a:xfrm>
            <a:off x="966724" y="2022468"/>
            <a:ext cx="7210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Durante el mes se analizaron las fallas, paradas no programadas, indisponibilidades parciales y eventos operacionales que tuvieron mayor impacto en la disponibilidad y generación.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3B62D-ADF4-CFE1-5CDB-BB4EA80CE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72" y="2581057"/>
            <a:ext cx="8435398" cy="317268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C8B1C-D785-E6EC-850F-AAFF9344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0F6A77B3-164B-BD1D-AE4E-BC776C9F1105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4E161-C4EC-EDB6-2169-21F52D76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14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1AD0D5-8FEF-CBA1-8086-FD9E75045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5" y="1478373"/>
            <a:ext cx="8687593" cy="372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50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0D147-1BF1-10C4-A9DF-485DACD9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F3007616-0977-6EDB-1BAE-BBB4476BC22D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48C478-176A-734E-2EFF-8EF855AA5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15</a:t>
            </a:fld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576D12-FCEF-AB81-B27D-CC4517BAF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56" y="1843498"/>
            <a:ext cx="8662488" cy="381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99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FCAF1-D65D-DBD7-EBCF-347993D9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420FA8BA-1EB3-56A8-704B-1956CE8EFE05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3FBC0A-2FD1-7562-837E-096EB0E1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16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96B12-2050-614B-9B2E-E7551861A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5" y="1478373"/>
            <a:ext cx="8732911" cy="384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60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BCA27-7A93-1083-95B9-580B7DE8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2FB07703-C48F-AA0D-F406-75407D73C8B7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10C9BB-5CCB-3155-DEE9-4DB024B8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17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4854A-40AA-A5D9-ADDF-AB4A926CF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5" y="1478372"/>
            <a:ext cx="8771065" cy="39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59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AA460-FA6A-F543-D8A7-B3BD3B89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77ADC095-52AE-86BD-96E3-262CEEAAA5B1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622FC-9567-A86A-E533-E35BB0EB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18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4493B-7E46-2B64-D5CC-EFECC39D4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61" y="1478373"/>
            <a:ext cx="8388877" cy="428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92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F5F33-E722-5D9C-51D2-EAA162EC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D68D5469-E178-E257-04BA-5732A45AEB61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B04AE6-6451-8D97-577F-32CC4A9B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19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CC20A-901C-8359-808A-2B3A72E395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88" y="1478373"/>
            <a:ext cx="8249624" cy="429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79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1147F-A8FD-0F0B-E0B6-E4BC06E5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C35E413C-FC9B-1E98-6DCB-1FA6391C1EB1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31775-2383-D6B0-11F7-E207A16D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20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8B8C0-5268-2F20-1943-E0E425951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51" y="1478373"/>
            <a:ext cx="8050697" cy="437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33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EBCF7-9DA0-4418-F5C3-5690D570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55113A0F-C74D-7F3B-6F3F-C589A5F7906B}"/>
              </a:ext>
            </a:extLst>
          </p:cNvPr>
          <p:cNvSpPr txBox="1"/>
          <p:nvPr/>
        </p:nvSpPr>
        <p:spPr>
          <a:xfrm>
            <a:off x="827577" y="100837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Fallas e indisponibilidades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48046A-008A-4701-D7BC-8AFC01B6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21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B5AE48-401E-0C61-2D60-781EC74AF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26" y="1466703"/>
            <a:ext cx="8394346" cy="423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8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/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/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Eventos repetitivos y malos actores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20318-6872-1F82-C035-DCBFBCBE1376}"/>
              </a:ext>
            </a:extLst>
          </p:cNvPr>
          <p:cNvSpPr txBox="1"/>
          <p:nvPr/>
        </p:nvSpPr>
        <p:spPr>
          <a:xfrm>
            <a:off x="966723" y="2120000"/>
            <a:ext cx="721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99AE2-28E6-D053-D9CF-449CCED6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22</a:t>
            </a:fld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5B38F-9B99-437F-B5F3-42E96D546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69" y="2766331"/>
            <a:ext cx="6915762" cy="330233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DED2F-9A76-00F5-951D-56B999BE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0CF609C5-3986-8CA9-504F-6FCD2DD8AF80}"/>
              </a:ext>
            </a:extLst>
          </p:cNvPr>
          <p:cNvSpPr txBox="1"/>
          <p:nvPr/>
        </p:nvSpPr>
        <p:spPr>
          <a:xfrm>
            <a:off x="966725" y="971321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Eventos repetitivos y malos actores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7E91FE-F415-5400-F00F-6ECDF71B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23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5F4E62-24FF-9225-56DD-B2DCF5916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93" y="1441321"/>
            <a:ext cx="8385414" cy="400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85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EF254-DA7C-16D3-08A9-C5A7C816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D9A7FE6-5A2C-6318-FB30-BC24D2B6DD3A}"/>
              </a:ext>
            </a:extLst>
          </p:cNvPr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>
            <a:extLst>
              <a:ext uri="{FF2B5EF4-FFF2-40B4-BE49-F238E27FC236}">
                <a16:creationId xmlns:a16="http://schemas.microsoft.com/office/drawing/2014/main" id="{CFB06E9F-1476-FFBB-D28C-6FC6569FAB04}"/>
              </a:ext>
            </a:extLst>
          </p:cNvPr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Malos actores</a:t>
            </a:r>
          </a:p>
          <a:p>
            <a:endParaRPr lang="es-CO" sz="2000" b="1">
              <a:solidFill>
                <a:srgbClr val="1E3A5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1B764-E3CF-1C1E-82E7-6B2ADE39A5FD}"/>
              </a:ext>
            </a:extLst>
          </p:cNvPr>
          <p:cNvSpPr txBox="1"/>
          <p:nvPr/>
        </p:nvSpPr>
        <p:spPr>
          <a:xfrm>
            <a:off x="966723" y="2120000"/>
            <a:ext cx="72105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1200"/>
              <a:t>Se identificaron los equipos, sistemas o componentes con mayor frecuencia de falla, indisponibilidad o impacto operacional. Estos activos fueron priorizados como malos actores para intervención y seguimiento.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E88E1C-4F00-1CA4-18D5-7D738E868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42" y="2887416"/>
            <a:ext cx="7210548" cy="2941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E55DB7-55C0-0364-3653-331EE392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7336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7F5C3-B6DC-F3B8-8AA4-4E311929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3BC1D2C6-3B80-C303-7D79-A1F02C9BB799}"/>
              </a:ext>
            </a:extLst>
          </p:cNvPr>
          <p:cNvSpPr txBox="1"/>
          <p:nvPr/>
        </p:nvSpPr>
        <p:spPr>
          <a:xfrm>
            <a:off x="966723" y="784762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Malos actores</a:t>
            </a:r>
          </a:p>
          <a:p>
            <a:endParaRPr lang="es-CO" sz="2000" b="1">
              <a:solidFill>
                <a:srgbClr val="1E3A5F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E9A0B8-CFEF-B067-D655-D63D6AAB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25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496B7-6C98-B597-7386-9CC6997E8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30" y="1303539"/>
            <a:ext cx="8728659" cy="425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34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/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/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Planes de intervención</a:t>
            </a:r>
          </a:p>
        </p:txBody>
      </p:sp>
      <p:sp>
        <p:nvSpPr>
          <p:cNvPr id="2" name="Contenido"/>
          <p:cNvSpPr txBox="1"/>
          <p:nvPr/>
        </p:nvSpPr>
        <p:spPr>
          <a:xfrm>
            <a:off x="966723" y="1993745"/>
            <a:ext cx="7210549" cy="71995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s-CO" sz="1100"/>
              <a:t>Para cada mal actor se definieron planes de intervención con actividades específicas, responsables, fechas objetivo y criterios de verificación. El seguimiento busca confirmar la efectividad de las acciones y evitar la recurrencia de los eventos.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02B7-FD16-0E4C-3015-1BB624E6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26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4491E8-CF57-5904-D298-6A4894A0E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7" y="2713703"/>
            <a:ext cx="7772400" cy="276718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/>
          <p:cNvSpPr txBox="1"/>
          <p:nvPr/>
        </p:nvSpPr>
        <p:spPr>
          <a:xfrm>
            <a:off x="966725" y="864808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Planes de intervención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17D3121-8F96-5862-D0FA-A039BF8D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27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62641-5C87-110F-3CA5-005F69B65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26" y="1334808"/>
            <a:ext cx="7731348" cy="43695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4F146-CC7D-E3AA-037C-59E5451E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2779EA84-8907-B825-5C41-1FFAA5487A71}"/>
              </a:ext>
            </a:extLst>
          </p:cNvPr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>
            <a:extLst>
              <a:ext uri="{FF2B5EF4-FFF2-40B4-BE49-F238E27FC236}">
                <a16:creationId xmlns:a16="http://schemas.microsoft.com/office/drawing/2014/main" id="{34800065-DC1C-45D2-4CAF-91469B0E9BA1}"/>
              </a:ext>
            </a:extLst>
          </p:cNvPr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Optimización de planes de mantenimiento</a:t>
            </a:r>
          </a:p>
        </p:txBody>
      </p:sp>
      <p:sp>
        <p:nvSpPr>
          <p:cNvPr id="2" name="Contenido">
            <a:extLst>
              <a:ext uri="{FF2B5EF4-FFF2-40B4-BE49-F238E27FC236}">
                <a16:creationId xmlns:a16="http://schemas.microsoft.com/office/drawing/2014/main" id="{4F6FEFF2-1460-C73A-42B1-8FE7B3028DEC}"/>
              </a:ext>
            </a:extLst>
          </p:cNvPr>
          <p:cNvSpPr txBox="1"/>
          <p:nvPr/>
        </p:nvSpPr>
        <p:spPr>
          <a:xfrm>
            <a:off x="966723" y="2230000"/>
            <a:ext cx="7210549" cy="37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s-CO" sz="1100"/>
              <a:t>Se revisaron los planes de mantenimiento con base en la criticidad de los equipos, historial de fallas, condición actual, recomendaciones del fabricante y desempeño observado.</a:t>
            </a:r>
          </a:p>
          <a:p>
            <a:pPr>
              <a:spcAft>
                <a:spcPts val="600"/>
              </a:spcAft>
            </a:pPr>
            <a:r>
              <a:rPr lang="es-CO" sz="1100"/>
              <a:t>Se identificaron oportunidades para ajustar frecuencias, alcances, estrategias predictivas y actividades preventivas.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D0783-F576-C266-4491-8DBDD036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28</a:t>
            </a:fld>
            <a:endParaRPr lang="es-CO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A5F53F-0F21-8C49-5A1F-8E72B2961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11" y="3088690"/>
            <a:ext cx="8229601" cy="216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03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F4707-D010-3205-490D-EADA58E7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E24835EF-01D7-8CC8-59B4-C53788E991A7}"/>
              </a:ext>
            </a:extLst>
          </p:cNvPr>
          <p:cNvSpPr txBox="1"/>
          <p:nvPr/>
        </p:nvSpPr>
        <p:spPr>
          <a:xfrm>
            <a:off x="876571" y="1018935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Optimización de planes de mantenimiento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B1C8-EFEE-6834-0C1D-B9B0A99A7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29</a:t>
            </a:fld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E4F1F-1C95-FBB9-B9A9-635BE29E1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19" y="1488934"/>
            <a:ext cx="8517657" cy="408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30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06AE9-C05A-5798-2CC7-29F63A28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5052AFBD-52F4-FC10-AA6F-4B2B1435D888}"/>
              </a:ext>
            </a:extLst>
          </p:cNvPr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>
            <a:extLst>
              <a:ext uri="{FF2B5EF4-FFF2-40B4-BE49-F238E27FC236}">
                <a16:creationId xmlns:a16="http://schemas.microsoft.com/office/drawing/2014/main" id="{80A87500-E30B-5087-3D98-3E93D79F124C}"/>
              </a:ext>
            </a:extLst>
          </p:cNvPr>
          <p:cNvSpPr txBox="1"/>
          <p:nvPr/>
        </p:nvSpPr>
        <p:spPr>
          <a:xfrm>
            <a:off x="583825" y="1572496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Mínimos de inventario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38772-AC51-9BAE-703B-6217FBFE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30</a:t>
            </a:fld>
            <a:endParaRPr lang="es-CO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2E7E0B-FE59-AC47-D2EA-9DC3C6F15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25" y="1984492"/>
            <a:ext cx="7976349" cy="3769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8960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/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/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Tendencias de degradación y riesgos</a:t>
            </a:r>
          </a:p>
        </p:txBody>
      </p:sp>
      <p:sp>
        <p:nvSpPr>
          <p:cNvPr id="2" name="Contenido"/>
          <p:cNvSpPr txBox="1"/>
          <p:nvPr/>
        </p:nvSpPr>
        <p:spPr>
          <a:xfrm>
            <a:off x="966723" y="223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s-CO" sz="1100"/>
              <a:t>Se evaluaron tendencias de condición y degradación que puedan afectar la continuidad, capacidad o confiabilidad del sistema de generación. Los riesgos fueron priorizados según probabilidad, impacto y urgencia de intervención.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9F6BC-D4CE-B462-7E54-8BC70A01E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31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24E4B8-74CA-9994-1D98-06DC44990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2" y="2706846"/>
            <a:ext cx="8360527" cy="290231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AA9F6-5A64-5F02-63C6-F49E50DF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0B6E5DC9-9BBA-9EF3-5CD4-01C29200BFAD}"/>
              </a:ext>
            </a:extLst>
          </p:cNvPr>
          <p:cNvSpPr txBox="1"/>
          <p:nvPr/>
        </p:nvSpPr>
        <p:spPr>
          <a:xfrm>
            <a:off x="966725" y="954261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Tendencias de degradación y riesgos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2F0C8-C127-2858-C070-3908E473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32</a:t>
            </a:fld>
            <a:endParaRPr lang="es-C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44D84C-B53A-4179-11B6-60BABC8A9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63" y="1347867"/>
            <a:ext cx="7772400" cy="4465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FB0E0-5960-F6AE-4154-5F245A6FD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63" y="3448074"/>
            <a:ext cx="7772400" cy="236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91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7B5DC-7624-E0AE-7870-4FDA266B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956992E7-7815-D239-3569-C6549DBE7E3C}"/>
              </a:ext>
            </a:extLst>
          </p:cNvPr>
          <p:cNvSpPr txBox="1"/>
          <p:nvPr/>
        </p:nvSpPr>
        <p:spPr>
          <a:xfrm>
            <a:off x="966725" y="954261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Tendencias de degradación y riesgos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806C7-2BDF-6319-8820-A41DA47C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33</a:t>
            </a:fld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49A14-A280-D927-B89D-621B91AAE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19" y="1526719"/>
            <a:ext cx="8243219" cy="380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73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/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/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Seguimiento de acciones correctivas y preventivas</a:t>
            </a:r>
          </a:p>
        </p:txBody>
      </p:sp>
      <p:sp>
        <p:nvSpPr>
          <p:cNvPr id="2" name="Contenido"/>
          <p:cNvSpPr txBox="1"/>
          <p:nvPr/>
        </p:nvSpPr>
        <p:spPr>
          <a:xfrm>
            <a:off x="966723" y="2230000"/>
            <a:ext cx="7210549" cy="6115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s-CO" sz="1100"/>
              <a:t>Se realizó seguimiento a las acciones derivadas de fallas, auditorías, reuniones de desempeño y compromisos contractuales. Se revisó el cumplimiento de fechas, evidencias de cierre y efectividad de las medidas implementadas.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CB9F45-74D9-FF72-CD4A-00B4526F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34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4CB0D1-9F31-52DF-29EB-4E8F8AD1F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98" y="2968147"/>
            <a:ext cx="8549404" cy="209666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392AC-B328-04AA-39B0-DAD727B2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ulo Seccion">
            <a:extLst>
              <a:ext uri="{FF2B5EF4-FFF2-40B4-BE49-F238E27FC236}">
                <a16:creationId xmlns:a16="http://schemas.microsoft.com/office/drawing/2014/main" id="{FCC875CF-72C2-3CCB-080E-DF43C2DCAB06}"/>
              </a:ext>
            </a:extLst>
          </p:cNvPr>
          <p:cNvSpPr txBox="1"/>
          <p:nvPr/>
        </p:nvSpPr>
        <p:spPr>
          <a:xfrm>
            <a:off x="966725" y="924443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Seguimiento de acciones correctivas y preventivas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F66960-9E8C-656D-2B71-604E2997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35</a:t>
            </a:fld>
            <a:endParaRPr lang="es-CO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F06568-25D1-C3E6-92F9-9B80834F0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87" y="1394443"/>
            <a:ext cx="8578625" cy="416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024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635AC-4827-0293-A5D0-C48B0020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97A9D25-1E76-B7CF-CCBE-9C353D2ABECB}"/>
              </a:ext>
            </a:extLst>
          </p:cNvPr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>
            <a:extLst>
              <a:ext uri="{FF2B5EF4-FFF2-40B4-BE49-F238E27FC236}">
                <a16:creationId xmlns:a16="http://schemas.microsoft.com/office/drawing/2014/main" id="{36DB21E0-ED6C-25C1-41E0-37011E096C5A}"/>
              </a:ext>
            </a:extLst>
          </p:cNvPr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Conclusiones y decisiones.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CD3D2-0E0D-6D58-2EA8-7461C632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36</a:t>
            </a:fld>
            <a:endParaRPr lang="es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15A9E-488D-E61F-EE7D-F248E81D7C4B}"/>
              </a:ext>
            </a:extLst>
          </p:cNvPr>
          <p:cNvSpPr txBox="1"/>
          <p:nvPr/>
        </p:nvSpPr>
        <p:spPr>
          <a:xfrm>
            <a:off x="581436" y="2263807"/>
            <a:ext cx="79811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O"/>
              <a:t>Recuperación del desempeño: El parque mostró una recuperación importante respecto a mayo, alcanzando 97,92% de disponibilidad y confiabilidad, quedando a una brecha mínima (0,08 pp) de la meta contractual.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O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O"/>
              <a:t>Desempeño operativo : La generación aumentó 3,9% y los indicadores MTBF y MTTR cumplieron sus objetivos, evidenciando una adecuada capacidad de respuesta y recuperación de los equipos.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O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O"/>
              <a:t>Principales fuentes de riesgo: La mayor afectación continúa asociada a eventos externos a COPOWER, principalmente red eléctrica, protecciones y tratamiento de gas. Solo el 30% de los eventos fueron atribuibles a la operación de COPOWER. </a:t>
            </a:r>
          </a:p>
          <a:p>
            <a:pPr rtl="0">
              <a:buNone/>
            </a:pP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6176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/>
          <p:cNvGraphicFramePr>
            <a:graphicFrameLocks noGrp="1"/>
          </p:cNvGraphicFramePr>
          <p:nvPr/>
        </p:nvGraphicFramePr>
        <p:xfrm>
          <a:off x="966723" y="1104255"/>
          <a:ext cx="7210549" cy="401938"/>
        </p:xfrm>
        <a:graphic>
          <a:graphicData uri="http://schemas.openxmlformats.org/drawingml/2006/table">
            <a:tbl>
              <a:tblPr/>
              <a:tblGrid>
                <a:gridCol w="7210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</a:rPr>
                        <a:t>INFORME DE CONFIABILIDAD - JUNIO 2026</a:t>
                      </a:r>
                    </a:p>
                  </a:txBody>
                  <a:tcPr marL="2849" marR="2849" marT="284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000" b="1" i="0" u="none" strike="noStrike">
                          <a:solidFill>
                            <a:srgbClr val="666666"/>
                          </a:solidFill>
                          <a:effectLst/>
                          <a:latin typeface="Calibri" pitchFamily="34" charset="0"/>
                        </a:rPr>
                        <a:t>Confiabilidad, Disponibilidad y Desempeño de Activos | COPOWER</a:t>
                      </a:r>
                    </a:p>
                  </a:txBody>
                  <a:tcPr marL="2849" marR="2849" marT="284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itulo Seccion"/>
          <p:cNvSpPr txBox="1"/>
          <p:nvPr/>
        </p:nvSpPr>
        <p:spPr>
          <a:xfrm>
            <a:off x="966723" y="1650000"/>
            <a:ext cx="7210549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s-CO" sz="2000" b="1">
                <a:solidFill>
                  <a:srgbClr val="1E3A5F"/>
                </a:solidFill>
              </a:rPr>
              <a:t>Conclusiones y decisiones.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529F82-B4C5-195C-F23E-11B5C3F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A34A6-7ADB-42AD-A657-AE98B9EEBBD4}" type="slidenum">
              <a:rPr lang="es-CO" smtClean="0"/>
              <a:t>37</a:t>
            </a:fld>
            <a:endParaRPr lang="es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AB1DB-22F5-5362-06A6-2DDEF40F722A}"/>
              </a:ext>
            </a:extLst>
          </p:cNvPr>
          <p:cNvSpPr txBox="1"/>
          <p:nvPr/>
        </p:nvSpPr>
        <p:spPr>
          <a:xfrm>
            <a:off x="581436" y="2263807"/>
            <a:ext cx="79811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O"/>
              <a:t>Riesgo técnico focalizado: La MRU y la CPW06 permanecen como los activos de mayor criticidad, por lo que deben mantenerse como prioridad en el plan de confiabilidad para reducir el riesgo consolidado del parque.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O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O"/>
              <a:t>Oportunidad de mejora: Aunque los planes de intervención alcanzaron un 100% de ejecución, el seguimiento de acciones requiere fortalecerse para asegurar el cierre oportuno de las acciones correctivas y evitar la recurrencia de fallas.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CO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O"/>
              <a:t>Enfoque para julio: Concentrar esfuerzos en la mitigación de los activos críticos y la coordinación con GTE para reducir el impacto de eventos asociados a la infraestructura del campo, con el objetivo de superar de manera sostenida la meta contractual del 98%.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2252</Words>
  <Application>Microsoft Macintosh PowerPoint</Application>
  <PresentationFormat>Carta (216 x 279 mm)</PresentationFormat>
  <Paragraphs>189</Paragraphs>
  <Slides>37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David Arciniegas Amaya</dc:creator>
  <cp:lastModifiedBy>Ingeniero Confiabilidad</cp:lastModifiedBy>
  <cp:revision>2</cp:revision>
  <dcterms:created xsi:type="dcterms:W3CDTF">2025-10-30T15:34:26Z</dcterms:created>
  <dcterms:modified xsi:type="dcterms:W3CDTF">2026-08-11T16:32:30Z</dcterms:modified>
</cp:coreProperties>
</file>